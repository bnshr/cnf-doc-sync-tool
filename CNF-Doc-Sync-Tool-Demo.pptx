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14"/>
    <p:sldId id="257" r:id="rId13"/>
    <p:sldId id="258" r:id="rId12"/>
    <p:sldId id="259" r:id="rId11"/>
    <p:sldId id="260" r:id="rId10"/>
    <p:sldId id="261" r:id="rId9"/>
    <p:sldId id="262" r:id="rId8"/>
    <p:sldId id="263" r:id="rId7"/>
    <p:sldId id="264" r:id="rId6"/>
  </p:sldIdLst>
  <p:sldSz cy="5143500" cx="9144000"/>
  <p:notesSz cx="6858000" cy="9144000"/>
  <p:embeddedFontLst>
    <p:embeddedFont>
      <p:font typeface="Raleway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9.xml"/><Relationship Id="rId7" Type="http://schemas.openxmlformats.org/officeDocument/2006/relationships/slide" Target="slides/slide8.xml"/><Relationship Id="rId8" Type="http://schemas.openxmlformats.org/officeDocument/2006/relationships/slide" Target="slides/slide7.xml"/><Relationship Id="rId9" Type="http://schemas.openxmlformats.org/officeDocument/2006/relationships/slide" Target="slides/slide6.xml"/><Relationship Id="rId10" Type="http://schemas.openxmlformats.org/officeDocument/2006/relationships/slide" Target="slides/slide5.xml"/><Relationship Id="rId11" Type="http://schemas.openxmlformats.org/officeDocument/2006/relationships/slide" Target="slides/slide4.xml"/><Relationship Id="rId12" Type="http://schemas.openxmlformats.org/officeDocument/2006/relationships/slide" Target="slides/slide3.xml"/><Relationship Id="rId13" Type="http://schemas.openxmlformats.org/officeDocument/2006/relationships/slide" Target="slides/slide2.xml"/><Relationship Id="rId14" Type="http://schemas.openxmlformats.org/officeDocument/2006/relationships/slide" Target="slides/slide1.xml"/><Relationship Id="rId15" Type="http://schemas.openxmlformats.org/officeDocument/2006/relationships/font" Target="fonts/Raleway-regular.fntdata"/><Relationship Id="rId16" Type="http://schemas.openxmlformats.org/officeDocument/2006/relationships/font" Target="fonts/Raleway-bold.fntdata"/><Relationship Id="rId17" Type="http://schemas.openxmlformats.org/officeDocument/2006/relationships/font" Target="fonts/Raleway-italic.fntdata"/><Relationship Id="rId18" Type="http://schemas.openxmlformats.org/officeDocument/2006/relationships/font" Target="fonts/Raleway-boldItalic.fntdata"/><Relationship Id="rId19" Type="http://schemas.openxmlformats.org/officeDocument/2006/relationships/font" Target="fonts/Lato-regular.fntdata"/><Relationship Id="rId20" Type="http://schemas.openxmlformats.org/officeDocument/2006/relationships/font" Target="fonts/Lato-bold.fntdata"/><Relationship Id="rId21" Type="http://schemas.openxmlformats.org/officeDocument/2006/relationships/font" Target="fonts/Lato-italic.fntdata"/><Relationship Id="rId22" Type="http://schemas.openxmlformats.org/officeDocument/2006/relationships/font" Target="fonts/Lato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CNF Doc Sync Tool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Documentation Sync</a:t>
            </a:r>
          </a:p>
          <a:p>
            <a:r>
              <a:rPr sz="1400"/>
              <a:t>Private VZ Guide  →  Public Red Hat K8s Guide</a:t>
            </a:r>
          </a:p>
          <a:p>
            <a:r>
              <a:t/>
            </a:r>
          </a:p>
          <a:p>
            <a:r>
              <a:rPr sz="1200"/>
              <a:t>CNF Team  •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The problem</a:t>
            </a:r>
          </a:p>
          <a:p>
            <a:pPr marL="0" indent="0">
              <a:buNone/>
            </a:pPr>
            <a:r>
              <a:rPr sz="1500"/>
              <a:t>Syncing docs from the private VZ guide to the public Red Hat guide is fully manual today.</a:t>
            </a:r>
          </a:p>
          <a:p>
            <a:pPr marL="0" indent="0">
              <a:buNone/>
            </a:pPr>
            <a:r>
              <a:t/>
            </a:r>
          </a:p>
          <a:p>
            <a:pPr marL="0" indent="0">
              <a:buNone/>
            </a:pPr>
            <a:r>
              <a:rPr b="1"/>
              <a:t>Pain points</a:t>
            </a:r>
          </a:p>
          <a:p>
            <a:pPr marL="342900" indent="-228600">
              <a:buClr>
                <a:srgbClr val="058DC7"/>
              </a:buClr>
              <a:buFont typeface="Arial"/>
              <a:buChar char="•"/>
            </a:pPr>
            <a:r>
              <a:rPr sz="1400"/>
              <a:t>Hours of manual diff review per commit</a:t>
            </a:r>
          </a:p>
          <a:p>
            <a:pPr marL="342900" indent="-228600">
              <a:buClr>
                <a:srgbClr val="058DC7"/>
              </a:buClr>
              <a:buFont typeface="Arial"/>
              <a:buChar char="•"/>
            </a:pPr>
            <a:r>
              <a:rPr sz="1400"/>
              <a:t>Risk of leaking internal content (IPs, Doors IDs, VCP refs)</a:t>
            </a:r>
          </a:p>
          <a:p>
            <a:pPr marL="342900" indent="-228600">
              <a:buClr>
                <a:srgbClr val="058DC7"/>
              </a:buClr>
              <a:buFont typeface="Arial"/>
              <a:buChar char="•"/>
            </a:pPr>
            <a:r>
              <a:rPr sz="1400"/>
              <a:t>Must hand-extract generic portions &amp; adapt naming</a:t>
            </a:r>
          </a:p>
          <a:p>
            <a:pPr marL="342900" indent="-228600">
              <a:buClr>
                <a:srgbClr val="058DC7"/>
              </a:buClr>
              <a:buFont typeface="Arial"/>
              <a:buChar char="•"/>
            </a:pPr>
            <a:r>
              <a:rPr sz="1400"/>
              <a:t>Public guide falls behind — high friction defers syncs</a:t>
            </a:r>
          </a:p>
          <a:p>
            <a:pPr marL="0" indent="0">
              <a:buNone/>
            </a:pPr>
            <a:r>
              <a:t/>
            </a:r>
          </a:p>
          <a:p>
            <a:pPr marL="0" indent="0">
              <a:buNone/>
            </a:pPr>
            <a:r>
              <a:rPr b="1"/>
              <a:t>The solution</a:t>
            </a:r>
          </a:p>
          <a:p>
            <a:pPr marL="0" indent="0">
              <a:buNone/>
            </a:pPr>
            <a:r>
              <a:rPr sz="1500"/>
              <a:t>An AI-powered pipeline that automates classification, review, and PR creation.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Three-step pipeline</a:t>
            </a:r>
          </a:p>
          <a:p>
            <a:pPr marL="0" indent="0">
              <a:buNone/>
            </a:pPr>
            <a:r>
              <a:t/>
            </a:r>
          </a:p>
          <a:p>
            <a:pPr marL="0" indent="0">
              <a:buNone/>
            </a:pPr>
            <a:r>
              <a:rPr b="1"/>
              <a:t>1. Classify</a:t>
            </a:r>
          </a:p>
          <a:p>
            <a:pPr marL="0" indent="0">
              <a:buNone/>
            </a:pPr>
            <a:r>
              <a:rPr sz="1400"/>
              <a:t>AI analyzes each diff hunk and classifies as generic, VZ-specific, or mixed</a:t>
            </a:r>
          </a:p>
          <a:p>
            <a:pPr marL="0" indent="0">
              <a:buNone/>
            </a:pPr>
            <a:r>
              <a:t/>
            </a:r>
          </a:p>
          <a:p>
            <a:pPr marL="0" indent="0">
              <a:buNone/>
            </a:pPr>
            <a:r>
              <a:rPr b="1"/>
              <a:t>2. Review</a:t>
            </a:r>
          </a:p>
          <a:p>
            <a:pPr marL="0" indent="0">
              <a:buNone/>
            </a:pPr>
            <a:r>
              <a:rPr sz="1400"/>
              <a:t>Web UI shows side-by-side diffs with AI rationale. Accept, edit, or reject per file.</a:t>
            </a:r>
          </a:p>
          <a:p>
            <a:pPr marL="0" indent="0">
              <a:buNone/>
            </a:pPr>
            <a:r>
              <a:t/>
            </a:r>
          </a:p>
          <a:p>
            <a:pPr marL="0" indent="0">
              <a:buNone/>
            </a:pPr>
            <a:r>
              <a:rPr b="1"/>
              <a:t>3. Publish</a:t>
            </a:r>
          </a:p>
          <a:p>
            <a:pPr marL="0" indent="0">
              <a:buNone/>
            </a:pPr>
            <a:r>
              <a:rPr sz="1400"/>
              <a:t>One-click PR creation on the public guide repo with proper file mapping.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Three-layer classification</a:t>
            </a:r>
          </a:p>
          <a:p>
            <a:pPr marL="0" indent="0">
              <a:buNone/>
            </a:pPr>
            <a:r>
              <a:t/>
            </a:r>
          </a:p>
          <a:p>
            <a:pPr marL="0" indent="0">
              <a:buNone/>
            </a:pPr>
            <a:r>
              <a:rPr b="1"/>
              <a:t>Layer 1 — Filename  (~15%)</a:t>
            </a:r>
          </a:p>
          <a:p>
            <a:pPr marL="0" indent="0">
              <a:buNone/>
            </a:pPr>
            <a:r>
              <a:rPr sz="1400"/>
              <a:t>*-vz-* pattern → auto-exclude. Instant, free.</a:t>
            </a:r>
          </a:p>
          <a:p>
            <a:pPr marL="0" indent="0">
              <a:buNone/>
            </a:pPr>
            <a:r>
              <a:t/>
            </a:r>
          </a:p>
          <a:p>
            <a:pPr marL="0" indent="0">
              <a:buNone/>
            </a:pPr>
            <a:r>
              <a:rPr b="1"/>
              <a:t>Layer 2 — Regex  (~65%)</a:t>
            </a:r>
          </a:p>
          <a:p>
            <a:pPr marL="0" indent="0">
              <a:buNone/>
            </a:pPr>
            <a:r>
              <a:rPr sz="1400"/>
              <a:t>Scan hunks for VZ markers (.VCP CNF, Doors Id, ENSE, SPK). Instant, free.</a:t>
            </a:r>
          </a:p>
          <a:p>
            <a:pPr marL="0" indent="0">
              <a:buNone/>
            </a:pPr>
            <a:r>
              <a:t/>
            </a:r>
          </a:p>
          <a:p>
            <a:pPr marL="0" indent="0">
              <a:buNone/>
            </a:pPr>
            <a:r>
              <a:rPr b="1"/>
              <a:t>Layer 3 — LLM  (~20%)</a:t>
            </a:r>
          </a:p>
          <a:p>
            <a:pPr marL="0" indent="0">
              <a:buNone/>
            </a:pPr>
            <a:r>
              <a:rPr sz="1400"/>
              <a:t>Only ambiguous hunks reach the LLM. Supports Ollama, OpenAI, Anthropic.</a:t>
            </a:r>
          </a:p>
          <a:p>
            <a:pPr marL="0" indent="0">
              <a:buNone/>
            </a:pPr>
            <a:r>
              <a:t/>
            </a:r>
          </a:p>
          <a:p>
            <a:pPr marL="0" indent="0">
              <a:buNone/>
            </a:pPr>
            <a:r>
              <a:rPr b="1"/>
              <a:t>~80% classified with zero LLM cost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Ways to Use 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Path A: Claude Code Skill</a:t>
            </a:r>
          </a:p>
          <a:p>
            <a:pPr marL="0" indent="0">
              <a:buNone/>
            </a:pPr>
            <a:r>
              <a:t/>
            </a:r>
          </a:p>
          <a:p>
            <a:pPr marL="342900" indent="-228600">
              <a:buClr>
                <a:srgbClr val="058DC7"/>
              </a:buClr>
              <a:buFont typeface="Arial"/>
              <a:buChar char="•"/>
            </a:pPr>
            <a:r>
              <a:rPr sz="1400"/>
              <a:t>Slash command:  /cnf-doc-sync &lt;commit&gt;</a:t>
            </a:r>
          </a:p>
          <a:p>
            <a:pPr marL="342900" indent="-228600">
              <a:buClr>
                <a:srgbClr val="058DC7"/>
              </a:buClr>
              <a:buFont typeface="Arial"/>
              <a:buChar char="•"/>
            </a:pPr>
            <a:r>
              <a:rPr sz="1400"/>
              <a:t>Claude as the AI classifier</a:t>
            </a:r>
          </a:p>
          <a:p>
            <a:pPr marL="342900" indent="-228600">
              <a:buClr>
                <a:srgbClr val="058DC7"/>
              </a:buClr>
              <a:buFont typeface="Arial"/>
              <a:buChar char="•"/>
            </a:pPr>
            <a:r>
              <a:rPr sz="1400"/>
              <a:t>Parallel agent dispatch per file</a:t>
            </a:r>
          </a:p>
          <a:p>
            <a:pPr marL="342900" indent="-228600">
              <a:buClr>
                <a:srgbClr val="058DC7"/>
              </a:buClr>
              <a:buFont typeface="Arial"/>
              <a:buChar char="•"/>
            </a:pPr>
            <a:r>
              <a:rPr sz="1400"/>
              <a:t>Generates report + JSON data</a:t>
            </a:r>
          </a:p>
          <a:p>
            <a:pPr marL="342900" indent="-228600">
              <a:buClr>
                <a:srgbClr val="058DC7"/>
              </a:buClr>
              <a:buFont typeface="Arial"/>
              <a:buChar char="•"/>
            </a:pPr>
            <a:r>
              <a:rPr sz="1400"/>
              <a:t>Launch review UI from IDE</a:t>
            </a:r>
          </a:p>
          <a:p>
            <a:pPr marL="0" indent="0">
              <a:buNone/>
            </a:pPr>
            <a:r>
              <a:t/>
            </a:r>
          </a:p>
          <a:p>
            <a:pPr marL="0" indent="0">
              <a:buNone/>
            </a:pPr>
            <a:r>
              <a:rPr sz="1300"/>
              <a:t>Best for: interactive IDE workflows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Path B: Standalone CLI</a:t>
            </a:r>
          </a:p>
          <a:p>
            <a:pPr marL="0" indent="0">
              <a:buNone/>
            </a:pPr>
            <a:r>
              <a:t/>
            </a:r>
          </a:p>
          <a:p>
            <a:pPr marL="342900" indent="-228600">
              <a:buClr>
                <a:srgbClr val="058DC7"/>
              </a:buClr>
              <a:buFont typeface="Arial"/>
              <a:buChar char="•"/>
            </a:pPr>
            <a:r>
              <a:rPr sz="1400"/>
              <a:t>python classify.py &lt;commit&gt;</a:t>
            </a:r>
          </a:p>
          <a:p>
            <a:pPr marL="342900" indent="-228600">
              <a:buClr>
                <a:srgbClr val="058DC7"/>
              </a:buClr>
              <a:buFont typeface="Arial"/>
              <a:buChar char="•"/>
            </a:pPr>
            <a:r>
              <a:rPr sz="1400"/>
              <a:t>Choose LLM: Ollama / OpenAI / Anthropic</a:t>
            </a:r>
          </a:p>
          <a:p>
            <a:pPr marL="342900" indent="-228600">
              <a:buClr>
                <a:srgbClr val="058DC7"/>
              </a:buClr>
              <a:buFont typeface="Arial"/>
              <a:buChar char="•"/>
            </a:pPr>
            <a:r>
              <a:rPr sz="1400"/>
              <a:t>Regex-only mode:  --no-llm  (free!)</a:t>
            </a:r>
          </a:p>
          <a:p>
            <a:pPr marL="342900" indent="-228600">
              <a:buClr>
                <a:srgbClr val="058DC7"/>
              </a:buClr>
              <a:buFont typeface="Arial"/>
              <a:buChar char="•"/>
            </a:pPr>
            <a:r>
              <a:rPr sz="1400"/>
              <a:t>Same JSON output format</a:t>
            </a:r>
          </a:p>
          <a:p>
            <a:pPr marL="342900" indent="-228600">
              <a:buClr>
                <a:srgbClr val="058DC7"/>
              </a:buClr>
              <a:buFont typeface="Arial"/>
              <a:buChar char="•"/>
            </a:pPr>
            <a:r>
              <a:rPr sz="1400"/>
              <a:t>CI/automation-friendly</a:t>
            </a:r>
          </a:p>
          <a:p>
            <a:pPr marL="0" indent="0">
              <a:buNone/>
            </a:pPr>
            <a:r>
              <a:t/>
            </a:r>
          </a:p>
          <a:p>
            <a:pPr marL="0" indent="0">
              <a:buNone/>
            </a:pPr>
            <a:r>
              <a:rPr sz="1300"/>
              <a:t>Best for: pipelines &amp; air-gapped envs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Results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500"/>
              <a:t>Tested against 5 real historical commits and their human-performed syncs:</a:t>
            </a:r>
          </a:p>
          <a:p>
            <a:pPr marL="0" indent="0">
              <a:buNone/>
            </a:pPr>
            <a:r>
              <a:t/>
            </a:r>
          </a:p>
          <a:p>
            <a:pPr marL="342900" indent="-228600">
              <a:buClr>
                <a:srgbClr val="058DC7"/>
              </a:buClr>
              <a:buFont typeface="Arial"/>
              <a:buChar char="•"/>
            </a:pPr>
            <a:r>
              <a:rPr sz="1600" b="1"/>
              <a:t>Human sync match rate:  3/3 (100%)</a:t>
            </a:r>
          </a:p>
          <a:p>
            <a:pPr lvl="1" marL="685800" indent="-228600">
              <a:buClr>
                <a:srgbClr val="058DC7"/>
              </a:buClr>
              <a:buFont typeface="Arial"/>
              <a:buChar char="–"/>
            </a:pPr>
            <a:r>
              <a:rPr sz="1300"/>
              <a:t>Every file a human synced was flagged by the tool as pending review.</a:t>
            </a:r>
          </a:p>
          <a:p>
            <a:pPr marL="0" indent="0">
              <a:buNone/>
            </a:pPr>
            <a:r>
              <a:t/>
            </a:r>
          </a:p>
          <a:p>
            <a:pPr marL="342900" indent="-228600">
              <a:buClr>
                <a:srgbClr val="058DC7"/>
              </a:buClr>
              <a:buFont typeface="Arial"/>
              <a:buChar char="•"/>
            </a:pPr>
            <a:r>
              <a:rPr sz="1600" b="1"/>
              <a:t>False positives:  0 instances</a:t>
            </a:r>
          </a:p>
          <a:p>
            <a:pPr lvl="1" marL="685800" indent="-228600">
              <a:buClr>
                <a:srgbClr val="058DC7"/>
              </a:buClr>
              <a:buFont typeface="Arial"/>
              <a:buChar char="–"/>
            </a:pPr>
            <a:r>
              <a:rPr sz="1300"/>
              <a:t>No VZ-specific content was ever recommended for public sync.</a:t>
            </a:r>
          </a:p>
          <a:p>
            <a:pPr marL="0" indent="0">
              <a:buNone/>
            </a:pPr>
            <a:r>
              <a:t/>
            </a:r>
          </a:p>
          <a:p>
            <a:pPr marL="342900" indent="-228600">
              <a:buClr>
                <a:srgbClr val="058DC7"/>
              </a:buClr>
              <a:buFont typeface="Arial"/>
              <a:buChar char="•"/>
            </a:pPr>
            <a:r>
              <a:rPr sz="1600" b="1"/>
              <a:t>VZ marker detection:  100%</a:t>
            </a:r>
          </a:p>
          <a:p>
            <a:pPr lvl="1" marL="685800" indent="-228600">
              <a:buClr>
                <a:srgbClr val="058DC7"/>
              </a:buClr>
              <a:buFont typeface="Arial"/>
              <a:buChar char="–"/>
            </a:pPr>
            <a:r>
              <a:rPr sz="1300"/>
              <a:t>.VCP CNF, Doors IDs, ENSE, SPK — all reliably detected.</a:t>
            </a:r>
          </a:p>
          <a:p>
            <a:pPr marL="0" indent="0">
              <a:buNone/>
            </a:pPr>
            <a:r>
              <a:t/>
            </a:r>
          </a:p>
          <a:p>
            <a:pPr marL="342900" indent="-228600">
              <a:buClr>
                <a:srgbClr val="058DC7"/>
              </a:buClr>
              <a:buFont typeface="Arial"/>
              <a:buChar char="•"/>
            </a:pPr>
            <a:r>
              <a:rPr sz="1600" b="1"/>
              <a:t>Path A vs Path B agreement:  100%  (file-level safety)</a:t>
            </a:r>
          </a:p>
          <a:p>
            <a:pPr marL="0" indent="0">
              <a:buNone/>
            </a:pPr>
            <a:r>
              <a:t/>
            </a:r>
          </a:p>
          <a:p>
            <a:pPr marL="342900" indent="-228600">
              <a:buClr>
                <a:srgbClr val="058DC7"/>
              </a:buClr>
              <a:buFont typeface="Arial"/>
              <a:buChar char="•"/>
            </a:pPr>
            <a:r>
              <a:rPr sz="1600" b="1"/>
              <a:t>Coverage:  83 files across 5 commits (1 / 4 / 9 / 26 / 44 files)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Cases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500" b="1"/>
              <a:t>TC1  —  Small (1 file)</a:t>
            </a:r>
          </a:p>
          <a:p>
            <a:pPr marL="0" indent="0">
              <a:buNone/>
            </a:pPr>
            <a:r>
              <a:rPr sz="1200"/>
              <a:t>Single generic file change (cpu-isolation.adoc). Tool: pending → Human: synced.  ✓ Match</a:t>
            </a:r>
          </a:p>
          <a:p>
            <a:pPr marL="0" indent="0">
              <a:buNone/>
            </a:pPr>
            <a:r>
              <a:t/>
            </a:r>
          </a:p>
          <a:p>
            <a:pPr marL="0" indent="0">
              <a:buNone/>
            </a:pPr>
            <a:r>
              <a:rPr sz="1500" b="1"/>
              <a:t>TC2  —  Medium (4 files)</a:t>
            </a:r>
          </a:p>
          <a:p>
            <a:pPr marL="0" indent="0">
              <a:buNone/>
            </a:pPr>
            <a:r>
              <a:rPr sz="1200"/>
              <a:t>SCTP requirement + OVN deletion. Tool flags main.adoc as generic → Human synced main.adoc.  ✓ Match</a:t>
            </a:r>
          </a:p>
          <a:p>
            <a:pPr marL="0" indent="0">
              <a:buNone/>
            </a:pPr>
            <a:r>
              <a:t/>
            </a:r>
          </a:p>
          <a:p>
            <a:pPr marL="0" indent="0">
              <a:buNone/>
            </a:pPr>
            <a:r>
              <a:rPr sz="1500" b="1"/>
              <a:t>TC3  —  Large (26 files)</a:t>
            </a:r>
          </a:p>
          <a:p>
            <a:pPr marL="0" indent="0">
              <a:buNone/>
            </a:pPr>
            <a:r>
              <a:rPr sz="1200"/>
              <a:t>Mixed VZ/generic. Tool flags cpu-manager-pinning as mixed → Human synced it, stripping VZ wrappers.  ✓ Match</a:t>
            </a:r>
          </a:p>
          <a:p>
            <a:pPr marL="0" indent="0">
              <a:buNone/>
            </a:pPr>
            <a:r>
              <a:t/>
            </a:r>
          </a:p>
          <a:p>
            <a:pPr marL="0" indent="0">
              <a:buNone/>
            </a:pPr>
            <a:r>
              <a:rPr sz="1500" b="1"/>
              <a:t>TC4  —  VZ markers only (9 files)</a:t>
            </a:r>
          </a:p>
          <a:p>
            <a:pPr marL="0" indent="0">
              <a:buNone/>
            </a:pPr>
            <a:r>
              <a:rPr sz="1200"/>
              <a:t>All VZ admonition edits. Tool auto-excludes 8/9 files. Human sync was unrelated content.  ✓ Correct</a:t>
            </a:r>
          </a:p>
          <a:p>
            <a:pPr marL="0" indent="0">
              <a:buNone/>
            </a:pPr>
            <a:r>
              <a:t/>
            </a:r>
          </a:p>
          <a:p>
            <a:pPr marL="0" indent="0">
              <a:buNone/>
            </a:pPr>
            <a:r>
              <a:rPr sz="1500" b="1"/>
              <a:t>TC5  —  Bulk rename (44 files)</a:t>
            </a:r>
          </a:p>
          <a:p>
            <a:pPr marL="0" indent="0">
              <a:buNone/>
            </a:pPr>
            <a:r>
              <a:rPr sz="1200"/>
              <a:t>Doors Id → Requirement Id. Tool auto-excludes 40/43. Human's grammar fix was independent.  ✓ True negative</a:t>
            </a:r>
          </a:p>
          <a:p>
            <a:pPr marL="0" indent="0">
              <a:buNone/>
            </a:pPr>
            <a: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Time savings</a:t>
            </a:r>
          </a:p>
          <a:p>
            <a:pPr marL="0" indent="0">
              <a:buNone/>
            </a:pPr>
            <a:r>
              <a:rPr sz="1400"/>
              <a:t>Hours → minutes per commit. 80% of files need zero human attention thanks to the three-layer approach.</a:t>
            </a:r>
          </a:p>
          <a:p>
            <a:pPr marL="0" indent="0">
              <a:buNone/>
            </a:pPr>
            <a:r>
              <a:t/>
            </a:r>
          </a:p>
          <a:p>
            <a:pPr marL="0" indent="0">
              <a:buNone/>
            </a:pPr>
            <a:r>
              <a:rPr b="1"/>
              <a:t>Zero leakage risk</a:t>
            </a:r>
          </a:p>
          <a:p>
            <a:pPr marL="0" indent="0">
              <a:buNone/>
            </a:pPr>
            <a:r>
              <a:rPr sz="1400"/>
              <a:t>Eliminates accidental exposure of internal IPs, Doors IDs, VCP references, ENSE fabric details. Zero false positives.</a:t>
            </a:r>
          </a:p>
          <a:p>
            <a:pPr marL="0" indent="0">
              <a:buNone/>
            </a:pPr>
            <a:r>
              <a:t/>
            </a:r>
          </a:p>
          <a:p>
            <a:pPr marL="0" indent="0">
              <a:buNone/>
            </a:pPr>
            <a:r>
              <a:rPr b="1"/>
              <a:t>Public guide stays current</a:t>
            </a:r>
          </a:p>
          <a:p>
            <a:pPr marL="0" indent="0">
              <a:buNone/>
            </a:pPr>
            <a:r>
              <a:rPr sz="1400"/>
              <a:t>Lower barrier to syncing means the Red Hat K8s guide stays up-to-date with improvements from the private repo.</a:t>
            </a:r>
          </a:p>
          <a:p>
            <a:pPr marL="0" indent="0">
              <a:buNone/>
            </a:pPr>
            <a:r>
              <a:t/>
            </a:r>
          </a:p>
          <a:p>
            <a:pPr marL="0" indent="0">
              <a:buNone/>
            </a:pPr>
            <a:r>
              <a:rPr b="1"/>
              <a:t>Flexible deployment</a:t>
            </a:r>
          </a:p>
          <a:p>
            <a:pPr marL="0" indent="0">
              <a:buNone/>
            </a:pPr>
            <a:r>
              <a:rPr sz="1400"/>
              <a:t>IDE-integrated (Claude Code) or standalone CLI for CI pipelines. Local LLMs (Ollama) for air-gapped environments.</a:t>
            </a:r>
          </a:p>
          <a:p>
            <a:pPr marL="0" indent="0">
              <a:buNone/>
            </a:pPr>
            <a:r>
              <a:t/>
            </a:r>
          </a:p>
          <a:p>
            <a:pPr marL="0" indent="0">
              <a:buNone/>
            </a:pPr>
            <a:r>
              <a:rPr b="1"/>
              <a:t>Reusable pattern</a:t>
            </a:r>
          </a:p>
          <a:p>
            <a:pPr marL="0" indent="0">
              <a:buNone/>
            </a:pPr>
            <a:r>
              <a:rPr sz="1400"/>
              <a:t>Classify → Review → PR can be adapted for other repos with dual-audience documentation.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Adopt for regular use</a:t>
            </a:r>
          </a:p>
          <a:p>
            <a:pPr marL="0" indent="0">
              <a:buNone/>
            </a:pPr>
            <a:r>
              <a:rPr sz="1400"/>
              <a:t>Integrate into the regular sync workflow for VZ ↔ RH guide documentation.</a:t>
            </a:r>
          </a:p>
          <a:p>
            <a:pPr marL="0" indent="0">
              <a:buNone/>
            </a:pPr>
            <a:r>
              <a:t/>
            </a:r>
          </a:p>
          <a:p>
            <a:pPr marL="0" indent="0">
              <a:buNone/>
            </a:pPr>
            <a:r>
              <a:rPr b="1"/>
              <a:t>CI/CD automation</a:t>
            </a:r>
          </a:p>
          <a:p>
            <a:pPr marL="0" indent="0">
              <a:buNone/>
            </a:pPr>
            <a:r>
              <a:rPr sz="1400"/>
              <a:t>Auto-classify on every private repo merge; reviewers only see flagged changes.</a:t>
            </a:r>
          </a:p>
          <a:p>
            <a:pPr marL="0" indent="0">
              <a:buNone/>
            </a:pPr>
            <a:r>
              <a:t/>
            </a:r>
          </a:p>
          <a:p>
            <a:pPr marL="0" indent="0">
              <a:buNone/>
            </a:pPr>
            <a:r>
              <a:rPr b="1"/>
              <a:t>Extend the pattern</a:t>
            </a:r>
          </a:p>
          <a:p>
            <a:pPr marL="0" indent="0">
              <a:buNone/>
            </a:pPr>
            <a:r>
              <a:rPr sz="1400"/>
              <a:t>Apply the classify → review → PR workflow to other dual-audience doc repos.</a:t>
            </a:r>
          </a:p>
          <a:p>
            <a:pPr marL="0" indent="0">
              <a:buNone/>
            </a:pPr>
            <a:r>
              <a:t/>
            </a:r>
          </a:p>
          <a:p>
            <a:pPr marL="0" indent="0">
              <a:buNone/>
            </a:pPr>
            <a:r>
              <a:rPr b="1"/>
              <a:t>Refine detection rules</a:t>
            </a:r>
          </a:p>
          <a:p>
            <a:pPr marL="0" indent="0">
              <a:buNone/>
            </a:pPr>
            <a:r>
              <a:rPr sz="1400"/>
              <a:t>Gather reviewer feedback to continuously improve VZ marker detection and LLM prompts.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Repository</a:t>
            </a:r>
          </a:p>
          <a:p>
            <a:pPr marL="0" indent="0">
              <a:buNone/>
            </a:pPr>
            <a:r>
              <a:rPr sz="1500"/>
              <a:t>github.com/bnshr/cnf-doc-sync-tool</a:t>
            </a:r>
          </a:p>
          <a:p>
            <a:pPr marL="0" indent="0">
              <a:buNone/>
            </a:pPr>
            <a:r>
              <a:t/>
            </a:r>
          </a:p>
          <a:p>
            <a:pPr marL="0" indent="0">
              <a:buNone/>
            </a:pPr>
            <a:r>
              <a:rPr b="1"/>
              <a:t>JIRA</a:t>
            </a:r>
          </a:p>
          <a:p>
            <a:pPr marL="0" indent="0">
              <a:buNone/>
            </a:pPr>
            <a:r>
              <a:rPr sz="1500"/>
              <a:t>CNF-24994</a:t>
            </a:r>
          </a:p>
          <a:p>
            <a:pPr marL="0" indent="0">
              <a:buNone/>
            </a:pPr>
            <a:r>
              <a:t/>
            </a:r>
          </a:p>
          <a:p>
            <a:pPr marL="0" indent="0">
              <a:buNone/>
            </a:pPr>
            <a:r>
              <a:rPr b="1"/>
              <a:t>Team</a:t>
            </a:r>
          </a:p>
          <a:p>
            <a:pPr marL="0" indent="0">
              <a:buNone/>
            </a:pPr>
            <a:r>
              <a:rPr sz="1500"/>
              <a:t>CNF Team  • 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